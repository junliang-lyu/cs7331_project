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372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0"/>
            <a:ext cx="2743200" cy="1645920"/>
          </a:xfrm>
          <a:prstGeom prst="ellipse">
            <a:avLst/>
          </a:prstGeom>
          <a:solidFill>
            <a:srgbClr val="20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1737360"/>
            <a:ext cx="1280160" cy="1280160"/>
          </a:xfrm>
          <a:prstGeom prst="ellipse">
            <a:avLst/>
          </a:prstGeom>
          <a:solidFill>
            <a:srgbClr val="20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5120640"/>
            <a:ext cx="1371600" cy="1371600"/>
          </a:xfrm>
          <a:prstGeom prst="ellipse">
            <a:avLst/>
          </a:prstGeom>
          <a:solidFill>
            <a:srgbClr val="20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868680"/>
            <a:ext cx="502920" cy="36576"/>
          </a:xfrm>
          <a:prstGeom prst="rect">
            <a:avLst/>
          </a:prstGeom>
          <a:solidFill>
            <a:srgbClr val="3B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House Price Prediction
Model Using Machine Learning</a:t>
            </a:r>
          </a:p>
          <a:p>
            <a:pPr>
              <a:spcBef>
                <a:spcPts val="1600"/>
              </a:spcBef>
              <a:defRPr sz="1600">
                <a:solidFill>
                  <a:srgbClr val="D6DDE9"/>
                </a:solidFill>
              </a:defRPr>
            </a:pPr>
            <a:r>
              <a:t>Ames Housing Dataset Analysis</a:t>
            </a:r>
          </a:p>
          <a:p>
            <a:pPr>
              <a:spcBef>
                <a:spcPts val="1800"/>
              </a:spcBef>
              <a:defRPr sz="1100">
                <a:solidFill>
                  <a:srgbClr val="B4BECD"/>
                </a:solidFill>
              </a:defRPr>
            </a:pPr>
            <a:r>
              <a:t>CS 7331 • Final Project Presentation</a:t>
            </a:r>
          </a:p>
          <a:p>
            <a:pPr>
              <a:defRPr sz="1100">
                <a:solidFill>
                  <a:srgbClr val="B4BECD"/>
                </a:solidFill>
              </a:defRPr>
            </a:pPr>
            <a:r>
              <a:t>Junliang Lyu • Patricio Martinez • Sean Kane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17320"/>
            <a:ext cx="2468880" cy="2834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164592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B9AAB"/>
                </a:solidFill>
              </a:rPr>
              <a:t>Project focus</a:t>
            </a:r>
          </a:p>
          <a:p>
            <a:pPr>
              <a:spcBef>
                <a:spcPts val="600"/>
              </a:spcBef>
              <a:defRPr sz="1500" b="1">
                <a:solidFill>
                  <a:srgbClr val="122952"/>
                </a:solidFill>
              </a:defRPr>
            </a:pPr>
            <a:r>
              <a:t>Compare ML models for house-price prediction and identify the housing features that matter most.</a:t>
            </a:r>
          </a:p>
          <a:p>
            <a:pPr>
              <a:spcBef>
                <a:spcPts val="600"/>
              </a:spcBef>
              <a:defRPr sz="1200">
                <a:solidFill>
                  <a:srgbClr val="2F3946"/>
                </a:solidFill>
              </a:defRPr>
            </a:pPr>
            <a:r>
              <a:t>Data preparation, model comparison, evaluation, and conclusions.</a:t>
            </a:r>
          </a:p>
          <a:p>
            <a:pPr>
              <a:spcBef>
                <a:spcPts val="1400"/>
              </a:spcBef>
              <a:defRPr sz="850">
                <a:solidFill>
                  <a:srgbClr val="6E7884"/>
                </a:solidFill>
              </a:defRPr>
            </a:pPr>
            <a:r>
              <a:t>Built from the original class deck, proposal, and modeling notebook outputs.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952"/>
                </a:solidFill>
              </a:rPr>
              <a:t>Why This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234440" cy="54864"/>
          </a:xfrm>
          <a:prstGeom prst="rect">
            <a:avLst/>
          </a:prstGeom>
          <a:solidFill>
            <a:srgbClr val="3B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4187952" cy="2093976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" y="1527048"/>
            <a:ext cx="3886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3B9AAB"/>
                </a:solidFill>
              </a:rPr>
              <a:t>How do you know if a house is overpriced?
Can we predict house pricing accurately using data?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500">
                <a:solidFill>
                  <a:srgbClr val="2F3946"/>
                </a:solidFill>
              </a:defRPr>
            </a:pPr>
            <a:r>
              <a:t>Real estate is a major financial decision, so pricing should be based on evidence—not only intuition.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417319"/>
            <a:ext cx="1828800" cy="1307091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39512" y="1527048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3B9AAB"/>
                </a:solidFill>
              </a:rPr>
              <a:t>Decision support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150">
                <a:solidFill>
                  <a:srgbClr val="2F3946"/>
                </a:solidFill>
              </a:defRPr>
            </a:pPr>
            <a:r>
              <a:rPr dirty="0"/>
              <a:t>Models can give buyers, sellers, and investors a reasonable reference price.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417319"/>
            <a:ext cx="1828800" cy="1307091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51192" y="1527048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9AAB"/>
                </a:solidFill>
              </a:rPr>
              <a:t>Complex patterns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130">
                <a:solidFill>
                  <a:srgbClr val="2F3946"/>
                </a:solidFill>
              </a:defRPr>
            </a:pPr>
            <a:r>
              <a:t>Area, quality, bathrooms, age, and garage features often interact in nonlinear ways.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417320"/>
            <a:ext cx="1828800" cy="130709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62872" y="1527048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9AAB"/>
                </a:solidFill>
              </a:rPr>
              <a:t>Project goal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130">
                <a:solidFill>
                  <a:srgbClr val="2F3946"/>
                </a:solidFill>
              </a:defRPr>
            </a:pPr>
            <a:r>
              <a:t>Use the Ames data to compare a linear baseline with stronger ML models.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10424160" cy="2011680"/>
          </a:xfrm>
          <a:prstGeom prst="rect">
            <a:avLst/>
          </a:prstGeom>
          <a:noFill/>
        </p:spPr>
        <p:txBody>
          <a:bodyPr wrap="square" lIns="76200" tIns="25400" rIns="76200" bIns="25400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F3946"/>
                </a:solidFill>
              </a:defRPr>
            </a:pPr>
            <a:r>
              <a:t>A data-driven estimate can improve transparency in property valuation.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F3946"/>
                </a:solidFill>
              </a:defRPr>
            </a:pPr>
            <a:r>
              <a:t>Machine learning is useful because house prices depend on many related features.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2F3946"/>
                </a:solidFill>
              </a:defRPr>
            </a:pPr>
            <a:r>
              <a:t>This project asks whether advanced models give a meaningful improvement over a linear approach.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4"/>
                </a:solidFill>
              </a:rPr>
              <a:t>CS 7331 • House Price Prediction • Ames Housing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952"/>
                </a:solidFill>
              </a:rPr>
              <a:t>Objective and Hypothesis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234440" cy="54864"/>
          </a:xfrm>
          <a:prstGeom prst="rect">
            <a:avLst/>
          </a:prstGeom>
          <a:solidFill>
            <a:srgbClr val="3B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42976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" y="1527048"/>
            <a:ext cx="4023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9AAB"/>
                </a:solidFill>
              </a:rPr>
              <a:t>Project objectives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600">
                <a:solidFill>
                  <a:srgbClr val="2F3946"/>
                </a:solidFill>
              </a:defRPr>
            </a:pPr>
            <a:r>
              <a:t>Analyze factors affecting housing prices.</a:t>
            </a:r>
            <a:br/>
            <a:r>
              <a:t>Build predictive models.</a:t>
            </a:r>
            <a:br/>
            <a:r>
              <a:t>Compare model performance.</a:t>
            </a:r>
            <a:br/>
            <a:r>
              <a:t>Interpret whether advanced models outperform a linear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41732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68112" y="152704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9AAB"/>
                </a:solidFill>
              </a:rPr>
              <a:t>Key factors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150">
                <a:solidFill>
                  <a:srgbClr val="2F3946"/>
                </a:solidFill>
              </a:defRPr>
            </a:pPr>
            <a:r>
              <a:t>Sqft / house size, area or quality, bed &amp; bath, and garage capacity.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542032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68112" y="26517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9AAB"/>
                </a:solidFill>
              </a:rPr>
              <a:t>Model expectation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150">
                <a:solidFill>
                  <a:srgbClr val="2F3946"/>
                </a:solidFill>
              </a:defRPr>
            </a:pPr>
            <a:r>
              <a:t>Advanced models should outperform the linear baseline in prediction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365760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68112" y="376732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9AAB"/>
                </a:solidFill>
              </a:rPr>
              <a:t>Why this is reasonable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140">
                <a:solidFill>
                  <a:srgbClr val="2F3946"/>
                </a:solidFill>
              </a:defRPr>
            </a:pPr>
            <a:r>
              <a:t>House-price relationships are rarely purely linear, so tree models may capture them better.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2926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39912" y="1527048"/>
            <a:ext cx="2651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9AAB"/>
                </a:solidFill>
              </a:rPr>
              <a:t>Prior work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500">
                <a:solidFill>
                  <a:srgbClr val="2F3946"/>
                </a:solidFill>
              </a:defRPr>
            </a:pPr>
            <a:r>
              <a:t>Studies on the Ames dataset reported that linear regression can still achieve about R² ≈ 0.82.</a:t>
            </a:r>
            <a:br/>
            <a:r>
              <a:t>That gives us a useful baseline from the literature and a reason to test whether ensemble models can do better.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4"/>
                </a:solidFill>
              </a:rPr>
              <a:t>CS 7331 • House Price Prediction • Ames Housing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952"/>
                </a:solidFill>
              </a:rPr>
              <a:t>Ames Housing 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234440" cy="54864"/>
          </a:xfrm>
          <a:prstGeom prst="rect">
            <a:avLst/>
          </a:prstGeom>
          <a:solidFill>
            <a:srgbClr val="3B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466344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" y="1527048"/>
            <a:ext cx="43891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9AAB"/>
                </a:solidFill>
              </a:rPr>
              <a:t>Dataset facts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600">
                <a:solidFill>
                  <a:srgbClr val="2F3946"/>
                </a:solidFill>
              </a:defRPr>
            </a:pPr>
            <a:r>
              <a:t>1460 listed houses</a:t>
            </a:r>
            <a:br/>
            <a:r>
              <a:t>81 variables</a:t>
            </a:r>
            <a:br/>
            <a:r>
              <a:t>Located in Ames, Iowa</a:t>
            </a:r>
            <a:br/>
            <a:r>
              <a:t>Target variable: SalePrice</a:t>
            </a:r>
            <a:br/>
            <a:br/>
            <a:r>
              <a:t>Key features:</a:t>
            </a:r>
            <a:br/>
            <a:r>
              <a:t>OverallQual, GrLivArea, GarageCars, TotalBsmtSF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17320"/>
            <a:ext cx="27889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33872" y="1527048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9AAB"/>
                </a:solidFill>
              </a:rPr>
              <a:t>Why we chose it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500">
                <a:solidFill>
                  <a:srgbClr val="2F3946"/>
                </a:solidFill>
              </a:defRPr>
            </a:pPr>
            <a:r>
              <a:t>Ames Housing is a widely used benchmark and includes structural, quality, and neighborhood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417320"/>
            <a:ext cx="914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97112" y="1527048"/>
            <a:ext cx="640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B9AAB"/>
                </a:solidFill>
              </a:rPr>
              <a:t>2,930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950">
                <a:solidFill>
                  <a:srgbClr val="2F3946"/>
                </a:solidFill>
              </a:defRPr>
            </a:pPr>
            <a:r>
              <a:t>homes in the prepared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65792" y="1417320"/>
            <a:ext cx="914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30384" y="1527048"/>
            <a:ext cx="640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B9AAB"/>
                </a:solidFill>
              </a:rPr>
              <a:t>137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880">
                <a:solidFill>
                  <a:srgbClr val="2F3946"/>
                </a:solidFill>
              </a:defRPr>
            </a:pPr>
            <a:r>
              <a:t>encoded features before filtering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0" y="1417320"/>
            <a:ext cx="914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54512" y="1527048"/>
            <a:ext cx="640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B9AAB"/>
                </a:solidFill>
              </a:rPr>
              <a:t>80/20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919">
                <a:solidFill>
                  <a:srgbClr val="2F3946"/>
                </a:solidFill>
              </a:defRPr>
            </a:pPr>
            <a:r>
              <a:t>train / test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65760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9AAB"/>
                </a:solidFill>
              </a:defRPr>
            </a:pPr>
            <a:r>
              <a:t>Examples of important predictors highlighted in the proposal and notebook:</a:t>
            </a:r>
          </a:p>
          <a:p>
            <a:pPr>
              <a:spcBef>
                <a:spcPts val="600"/>
              </a:spcBef>
              <a:defRPr sz="1600">
                <a:solidFill>
                  <a:srgbClr val="2F3946"/>
                </a:solidFill>
              </a:defRPr>
            </a:pPr>
            <a:r>
              <a:t>Overall Qual, Living Area, Garage Capacity, Basement Area, and Age-related variables.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4"/>
                </a:solidFill>
              </a:rPr>
              <a:t>CS 7331 • House Price Prediction • Ames Housing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952"/>
                </a:solidFill>
              </a:rPr>
              <a:t>Data Preparation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234440" cy="54864"/>
          </a:xfrm>
          <a:prstGeom prst="rect">
            <a:avLst/>
          </a:prstGeom>
          <a:solidFill>
            <a:srgbClr val="3B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691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664208"/>
            <a:ext cx="1417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9AAB"/>
                </a:solidFill>
              </a:rPr>
              <a:t>Cleaning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060">
                <a:solidFill>
                  <a:srgbClr val="2F3946"/>
                </a:solidFill>
              </a:defRPr>
            </a:pPr>
            <a:r>
              <a:t>Handled missing values and used the prepared encoded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554480"/>
            <a:ext cx="1691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62072" y="1664208"/>
            <a:ext cx="1417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9AAB"/>
                </a:solidFill>
              </a:rPr>
              <a:t>Encoding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060">
                <a:solidFill>
                  <a:srgbClr val="2F3946"/>
                </a:solidFill>
              </a:defRPr>
            </a:pPr>
            <a:r>
              <a:t>Categorical variables were already encoded for modeling.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54480"/>
            <a:ext cx="1691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36592" y="1664208"/>
            <a:ext cx="1417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9AAB"/>
                </a:solidFill>
              </a:rPr>
              <a:t>Feature engineering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060">
                <a:solidFill>
                  <a:srgbClr val="2F3946"/>
                </a:solidFill>
              </a:defRPr>
            </a:pPr>
            <a:r>
              <a:t>Used House_Age, Remod_Age, Total_SF, and Total_Bathrooms.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54480"/>
            <a:ext cx="1691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11112" y="1664208"/>
            <a:ext cx="1417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9AAB"/>
                </a:solidFill>
              </a:rPr>
              <a:t>Target transform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060">
                <a:solidFill>
                  <a:srgbClr val="2F3946"/>
                </a:solidFill>
              </a:defRPr>
            </a:pPr>
            <a:r>
              <a:t>Applied log1p to SalePrice before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1691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85632" y="1664208"/>
            <a:ext cx="1417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9AAB"/>
                </a:solidFill>
              </a:rPr>
              <a:t>Feature filtering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060">
                <a:solidFill>
                  <a:srgbClr val="2F3946"/>
                </a:solidFill>
              </a:defRPr>
            </a:pPr>
            <a:r>
              <a:t>Reduced 137 → 122 → 107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95560" y="1554480"/>
            <a:ext cx="1691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60152" y="1664208"/>
            <a:ext cx="1417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9AAB"/>
                </a:solidFill>
              </a:rPr>
              <a:t>Split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060">
                <a:solidFill>
                  <a:srgbClr val="2F3946"/>
                </a:solidFill>
              </a:defRPr>
            </a:pPr>
            <a:r>
              <a:t>Used an 80/20 train-test split.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8620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9AAB"/>
                </a:solidFill>
              </a:defRPr>
            </a:pPr>
            <a:r>
              <a:t>Summary</a:t>
            </a:r>
          </a:p>
          <a:p>
            <a:pPr>
              <a:spcBef>
                <a:spcPts val="600"/>
              </a:spcBef>
              <a:defRPr sz="1800">
                <a:solidFill>
                  <a:srgbClr val="2F3946"/>
                </a:solidFill>
              </a:defRPr>
            </a:pPr>
            <a:r>
              <a:t>The main purpose of preprocessing was to make the model inputs cleaner, more stable, and less redundant before training.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4"/>
                </a:solidFill>
              </a:rPr>
              <a:t>CS 7331 • House Price Prediction • Ames Housing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952"/>
                </a:solidFill>
              </a:rPr>
              <a:t>Models Used and 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234440" cy="54864"/>
          </a:xfrm>
          <a:prstGeom prst="rect">
            <a:avLst/>
          </a:prstGeom>
          <a:solidFill>
            <a:srgbClr val="3B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2651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618488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B9AAB"/>
                </a:solidFill>
              </a:rPr>
              <a:t>Lasso (linear baseline)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500">
                <a:solidFill>
                  <a:srgbClr val="2F3946"/>
                </a:solidFill>
              </a:defRPr>
            </a:pPr>
            <a:r>
              <a:t>Regularized linear regression used as the baseline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508760"/>
            <a:ext cx="2651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67912" y="1618488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B9AAB"/>
                </a:solidFill>
              </a:rPr>
              <a:t>Random Forest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430">
                <a:solidFill>
                  <a:srgbClr val="2F3946"/>
                </a:solidFill>
              </a:defRPr>
            </a:pPr>
            <a:r>
              <a:t>Ensemble of decision trees that captures nonlinear patterns and interactions.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508760"/>
            <a:ext cx="2651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48272" y="1618488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B9AAB"/>
                </a:solidFill>
              </a:rPr>
              <a:t>XGBoost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430">
                <a:solidFill>
                  <a:srgbClr val="2F3946"/>
                </a:solidFill>
              </a:defRPr>
            </a:pPr>
            <a:r>
              <a:t>Boosted tree model that often performs strongly on structured tabular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150876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28632" y="1618488"/>
            <a:ext cx="1554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9AAB"/>
                </a:solidFill>
              </a:rPr>
              <a:t>Tuning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180">
                <a:solidFill>
                  <a:srgbClr val="2F3946"/>
                </a:solidFill>
              </a:defRPr>
            </a:pPr>
            <a:r>
              <a:t>GridSearchCV with 5-fold CV was used to search key hyperparameters.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29000"/>
            <a:ext cx="4206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7592" y="3538728"/>
            <a:ext cx="3931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9AAB"/>
                </a:solidFill>
              </a:rPr>
              <a:t>Evaluation metrics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600">
                <a:solidFill>
                  <a:srgbClr val="2F3946"/>
                </a:solidFill>
              </a:defRPr>
            </a:pPr>
            <a:r>
              <a:t>RMSE: prediction error size</a:t>
            </a:r>
            <a:br/>
            <a:r>
              <a:t>R²: how well the model explains price variation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429000"/>
            <a:ext cx="4754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33872" y="3538728"/>
            <a:ext cx="4480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9AAB"/>
                </a:solidFill>
              </a:rPr>
              <a:t>Note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400">
                <a:solidFill>
                  <a:srgbClr val="2F3946"/>
                </a:solidFill>
              </a:defRPr>
            </a:pPr>
            <a:r>
              <a:t>The slide was updated to match the actual notebook outputs, so the final comparison uses Lasso, Random Forest, and XGBoost.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4"/>
                </a:solidFill>
              </a:rPr>
              <a:t>CS 7331 • House Price Prediction • Ames Housing 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952"/>
                </a:solidFill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234440" cy="54864"/>
          </a:xfrm>
          <a:prstGeom prst="rect">
            <a:avLst/>
          </a:prstGeom>
          <a:solidFill>
            <a:srgbClr val="3B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645920" cy="475488"/>
          </a:xfrm>
          <a:prstGeom prst="rect">
            <a:avLst/>
          </a:prstGeom>
          <a:solidFill>
            <a:srgbClr val="1229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417320"/>
            <a:ext cx="1645920" cy="475488"/>
          </a:xfrm>
          <a:prstGeom prst="rect">
            <a:avLst/>
          </a:prstGeom>
          <a:solidFill>
            <a:srgbClr val="1229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14630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RMSE ($)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417320"/>
            <a:ext cx="1645920" cy="475488"/>
          </a:xfrm>
          <a:prstGeom prst="rect">
            <a:avLst/>
          </a:prstGeom>
          <a:solidFill>
            <a:srgbClr val="1229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60520" y="14630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892808"/>
            <a:ext cx="1645920" cy="475488"/>
          </a:xfrm>
          <a:prstGeom prst="rect">
            <a:avLst/>
          </a:prstGeom>
          <a:solidFill>
            <a:srgbClr val="ECF0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56816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F3946"/>
                </a:solidFill>
              </a:defRPr>
            </a:pPr>
            <a:r>
              <a:t>Lasso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1892808"/>
            <a:ext cx="1645920" cy="475488"/>
          </a:xfrm>
          <a:prstGeom prst="rect">
            <a:avLst/>
          </a:prstGeom>
          <a:solidFill>
            <a:srgbClr val="ECF0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14600" y="1956816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F3946"/>
                </a:solidFill>
              </a:defRPr>
            </a:pPr>
            <a:r>
              <a:t>33,540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892808"/>
            <a:ext cx="1645920" cy="475488"/>
          </a:xfrm>
          <a:prstGeom prst="rect">
            <a:avLst/>
          </a:prstGeom>
          <a:solidFill>
            <a:srgbClr val="ECF0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1956816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F3946"/>
                </a:solidFill>
              </a:defRPr>
            </a:pPr>
            <a:r>
              <a:t>0.8597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368296"/>
            <a:ext cx="1645920" cy="475488"/>
          </a:xfrm>
          <a:prstGeom prst="rect">
            <a:avLst/>
          </a:prstGeom>
          <a:solidFill>
            <a:srgbClr val="ECF0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432304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F3946"/>
                </a:solidFill>
              </a:defRPr>
            </a:pPr>
            <a:r>
              <a:t>Random Forest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368296"/>
            <a:ext cx="1645920" cy="475488"/>
          </a:xfrm>
          <a:prstGeom prst="rect">
            <a:avLst/>
          </a:prstGeom>
          <a:solidFill>
            <a:srgbClr val="ECF0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14600" y="2432304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F3946"/>
                </a:solidFill>
              </a:defRPr>
            </a:pPr>
            <a:r>
              <a:t>24,754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368296"/>
            <a:ext cx="1645920" cy="475488"/>
          </a:xfrm>
          <a:prstGeom prst="rect">
            <a:avLst/>
          </a:prstGeom>
          <a:solidFill>
            <a:srgbClr val="ECF0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60520" y="2432304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F3946"/>
                </a:solidFill>
              </a:defRPr>
            </a:pPr>
            <a:r>
              <a:t>0.9236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2843784"/>
            <a:ext cx="1645920" cy="475488"/>
          </a:xfrm>
          <a:prstGeom prst="rect">
            <a:avLst/>
          </a:prstGeom>
          <a:solidFill>
            <a:srgbClr val="D5E4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290779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F3946"/>
                </a:solidFill>
              </a:defRPr>
            </a:pPr>
            <a:r>
              <a:t>XGBoost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2843784"/>
            <a:ext cx="1645920" cy="475488"/>
          </a:xfrm>
          <a:prstGeom prst="rect">
            <a:avLst/>
          </a:prstGeom>
          <a:solidFill>
            <a:srgbClr val="D5E4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14600" y="290779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F3946"/>
                </a:solidFill>
              </a:defRPr>
            </a:pPr>
            <a:r>
              <a:t>22,947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2843784"/>
            <a:ext cx="1645920" cy="475488"/>
          </a:xfrm>
          <a:prstGeom prst="rect">
            <a:avLst/>
          </a:prstGeom>
          <a:solidFill>
            <a:srgbClr val="D5E4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60520" y="2907792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F3946"/>
                </a:solidFill>
              </a:defRPr>
            </a:pPr>
            <a:r>
              <a:t>0.9343</a:t>
            </a:r>
          </a:p>
        </p:txBody>
      </p:sp>
      <p:pic>
        <p:nvPicPr>
          <p:cNvPr id="28" name="Picture 27" descr="ames_rms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25880"/>
            <a:ext cx="5486400" cy="327215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868680" y="4023360"/>
            <a:ext cx="4892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4133088"/>
            <a:ext cx="4617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9AAB"/>
                </a:solidFill>
              </a:rPr>
              <a:t>Main takeaway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600">
                <a:solidFill>
                  <a:srgbClr val="2F3946"/>
                </a:solidFill>
              </a:defRPr>
            </a:pPr>
            <a:r>
              <a:t>XGBoost had the lowest RMSE and the highest R² on the held-out test set.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4"/>
                </a:solidFill>
              </a:rPr>
              <a:t>CS 7331 • House Price Prediction • Ames Housing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952"/>
                </a:solidFill>
              </a:rPr>
              <a:t>Key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234440" cy="54864"/>
          </a:xfrm>
          <a:prstGeom prst="rect">
            <a:avLst/>
          </a:prstGeom>
          <a:solidFill>
            <a:srgbClr val="3B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5212080" cy="3108960"/>
          </a:xfrm>
          <a:prstGeom prst="rect">
            <a:avLst/>
          </a:prstGeom>
          <a:noFill/>
        </p:spPr>
        <p:txBody>
          <a:bodyPr wrap="square" lIns="76200" tIns="25400" rIns="76200" bIns="25400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F3946"/>
                </a:solidFill>
              </a:defRPr>
            </a:pPr>
            <a:r>
              <a:t>The results support our hypothesis: advanced models outperformed the linear baseline.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F3946"/>
                </a:solidFill>
              </a:defRPr>
            </a:pPr>
            <a:r>
              <a:t>XGBoost performed best, with Random Forest second and Lasso last.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F3946"/>
                </a:solidFill>
              </a:defRPr>
            </a:pPr>
            <a:r>
              <a:t>This suggests that house prices contain nonlinear relationships that tree-based models capture more effectively.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2F3946"/>
                </a:solidFill>
              </a:defRPr>
            </a:pPr>
            <a:r>
              <a:t>Our results are also consistent with the proposal literature: stronger ensemble methods improve prediction accuracy on this task.</a:t>
            </a:r>
          </a:p>
        </p:txBody>
      </p:sp>
      <p:pic>
        <p:nvPicPr>
          <p:cNvPr id="5" name="Picture 4" descr="ames_feature_importan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120640" cy="346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80060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9AAB"/>
                </a:solidFill>
              </a:defRPr>
            </a:pPr>
            <a:r>
              <a:t>Top predictors highlighted by the notebook:</a:t>
            </a:r>
          </a:p>
          <a:p>
            <a:pPr>
              <a:spcBef>
                <a:spcPts val="400"/>
              </a:spcBef>
              <a:defRPr sz="1500">
                <a:solidFill>
                  <a:srgbClr val="2F3946"/>
                </a:solidFill>
              </a:defRPr>
            </a:pPr>
            <a:r>
              <a:t>Overall Qual, Total_SF, Total_Bathrooms, Garage Yr Blt, Lot Area_log, Central Air, Remod_Age, and Garage Cars.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4"/>
                </a:solidFill>
              </a:rPr>
              <a:t>CS 7331 • House Price Prediction • Ames Housing Dataset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22952"/>
                </a:solidFill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234440" cy="54864"/>
          </a:xfrm>
          <a:prstGeom prst="rect">
            <a:avLst/>
          </a:prstGeom>
          <a:solidFill>
            <a:srgbClr val="3B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4572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664208"/>
            <a:ext cx="4297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9AAB"/>
                </a:solidFill>
              </a:rPr>
              <a:t>Single-market dataset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450">
                <a:solidFill>
                  <a:srgbClr val="2F3946"/>
                </a:solidFill>
              </a:defRPr>
            </a:pPr>
            <a:r>
              <a:t>The model is based on Ames, Iowa housing data, so it may not transfer directly to other locations.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554480"/>
            <a:ext cx="4572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45352" y="1664208"/>
            <a:ext cx="4297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9AAB"/>
                </a:solidFill>
              </a:rPr>
              <a:t>Limited external context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450">
                <a:solidFill>
                  <a:srgbClr val="2F3946"/>
                </a:solidFill>
              </a:defRPr>
            </a:pPr>
            <a:r>
              <a:t>Mortgage rates, economic shifts, and local market shocks were not modeled explicitly.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4572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3767328"/>
            <a:ext cx="4297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9AAB"/>
                </a:solidFill>
              </a:rPr>
              <a:t>Interpretability trade-off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450">
                <a:solidFill>
                  <a:srgbClr val="2F3946"/>
                </a:solidFill>
              </a:defRPr>
            </a:pPr>
            <a:r>
              <a:t>The best-performing model is harder to explain than a simple linear baseline.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3657600"/>
            <a:ext cx="4572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45352" y="3767328"/>
            <a:ext cx="4297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9AAB"/>
                </a:solidFill>
              </a:rPr>
              <a:t>Preprocessing choices matter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450">
                <a:solidFill>
                  <a:srgbClr val="2F3946"/>
                </a:solidFill>
              </a:defRPr>
            </a:pPr>
            <a:r>
              <a:t>Encoding, filtering, and tuning can change results, so the pipeline should be validated carefully.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4"/>
                </a:solidFill>
              </a:rPr>
              <a:t>CS 7331 • House Price Prediction • Ames Housing Dataset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234440" cy="54864"/>
          </a:xfrm>
          <a:prstGeom prst="rect">
            <a:avLst/>
          </a:prstGeom>
          <a:solidFill>
            <a:srgbClr val="3B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ECDE6"/>
                </a:solidFill>
              </a:defRPr>
            </a:pPr>
            <a:r>
              <a:t>Three takeaways from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6583680" cy="914400"/>
          </a:xfrm>
          <a:prstGeom prst="roundRect">
            <a:avLst/>
          </a:prstGeom>
          <a:solidFill>
            <a:srgbClr val="203E70"/>
          </a:solidFill>
          <a:ln>
            <a:solidFill>
              <a:srgbClr val="3E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56816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9AAB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929384"/>
            <a:ext cx="5486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1700">
                <a:solidFill>
                  <a:srgbClr val="FFFFFF"/>
                </a:solidFill>
              </a:defRPr>
            </a:pPr>
            <a:r>
              <a:t>Machine learning can predict Ames house prices effectively when rich property features are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63240"/>
            <a:ext cx="6583680" cy="914400"/>
          </a:xfrm>
          <a:prstGeom prst="roundRect">
            <a:avLst/>
          </a:prstGeom>
          <a:solidFill>
            <a:srgbClr val="203E70"/>
          </a:solidFill>
          <a:ln>
            <a:solidFill>
              <a:srgbClr val="3E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3191256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9AAB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63824"/>
            <a:ext cx="5486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1700">
                <a:solidFill>
                  <a:srgbClr val="FFFFFF"/>
                </a:solidFill>
              </a:defRPr>
            </a:pPr>
            <a:r>
              <a:t>Among the models tested, XGBoost performed best with test RMSE ≈ $22.9K and R² ≈ 0.934.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343400"/>
            <a:ext cx="6583680" cy="914400"/>
          </a:xfrm>
          <a:prstGeom prst="roundRect">
            <a:avLst/>
          </a:prstGeom>
          <a:solidFill>
            <a:srgbClr val="203E70"/>
          </a:solidFill>
          <a:ln>
            <a:solidFill>
              <a:srgbClr val="3E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471416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9AAB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443984"/>
            <a:ext cx="5486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defRPr sz="1700">
                <a:solidFill>
                  <a:srgbClr val="FFFFFF"/>
                </a:solidFill>
              </a:defRPr>
            </a:pPr>
            <a:r>
              <a:t>Housing quality and total size were the strongest predictors, while ensemble models captured pricing patterns better than the linear baseline.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83080"/>
            <a:ext cx="3063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1892808"/>
            <a:ext cx="27889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B9AAB"/>
                </a:solidFill>
              </a:rPr>
              <a:t>Future work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600">
                <a:solidFill>
                  <a:srgbClr val="2F3946"/>
                </a:solidFill>
              </a:defRPr>
            </a:pPr>
            <a:r>
              <a:t>• Test on other housing markets</a:t>
            </a:r>
            <a:br/>
            <a:r>
              <a:t>• Add external economic features</a:t>
            </a:r>
            <a:br/>
            <a:r>
              <a:t>• Improve interpretability with SHAP or similar tools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4617720"/>
            <a:ext cx="2743200" cy="1051560"/>
          </a:xfrm>
          <a:prstGeom prst="rect">
            <a:avLst/>
          </a:prstGeom>
          <a:solidFill>
            <a:srgbClr val="203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40" y="48463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defRPr sz="1800" b="1">
                <a:solidFill>
                  <a:srgbClr val="DCE4F0"/>
                </a:solidFill>
              </a:defRPr>
            </a:pPr>
            <a:r>
              <a:t>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EC6D0"/>
                </a:solidFill>
              </a:rPr>
              <a:t>Revised deck: original structure kept, content shortened for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1006</Words>
  <Application>Microsoft Office PowerPoint</Application>
  <PresentationFormat>宽屏</PresentationFormat>
  <Paragraphs>124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Lyu, Junliang</cp:lastModifiedBy>
  <cp:revision>2</cp:revision>
  <dcterms:created xsi:type="dcterms:W3CDTF">2013-01-27T09:14:16Z</dcterms:created>
  <dcterms:modified xsi:type="dcterms:W3CDTF">2026-04-23T02:02:14Z</dcterms:modified>
  <cp:category/>
</cp:coreProperties>
</file>